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1"/>
  </p:sldMasterIdLst>
  <p:notesMasterIdLst>
    <p:notesMasterId r:id="rId26"/>
  </p:notesMasterIdLst>
  <p:sldIdLst>
    <p:sldId id="258" r:id="rId2"/>
    <p:sldId id="278" r:id="rId3"/>
    <p:sldId id="276" r:id="rId4"/>
    <p:sldId id="291" r:id="rId5"/>
    <p:sldId id="282" r:id="rId6"/>
    <p:sldId id="263" r:id="rId7"/>
    <p:sldId id="269" r:id="rId8"/>
    <p:sldId id="268" r:id="rId9"/>
    <p:sldId id="275" r:id="rId10"/>
    <p:sldId id="259" r:id="rId11"/>
    <p:sldId id="261" r:id="rId12"/>
    <p:sldId id="262" r:id="rId13"/>
    <p:sldId id="266" r:id="rId14"/>
    <p:sldId id="281" r:id="rId15"/>
    <p:sldId id="283" r:id="rId16"/>
    <p:sldId id="284" r:id="rId17"/>
    <p:sldId id="271" r:id="rId18"/>
    <p:sldId id="288" r:id="rId19"/>
    <p:sldId id="280" r:id="rId20"/>
    <p:sldId id="272" r:id="rId21"/>
    <p:sldId id="273" r:id="rId22"/>
    <p:sldId id="289" r:id="rId23"/>
    <p:sldId id="290" r:id="rId24"/>
    <p:sldId id="29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5820EF-B9B0-9A4E-80FD-4E575432267A}" v="7" dt="2026-03-07T04:58:18.6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35"/>
    <p:restoredTop sz="80204"/>
  </p:normalViewPr>
  <p:slideViewPr>
    <p:cSldViewPr snapToGrid="0" snapToObjects="1">
      <p:cViewPr varScale="1">
        <p:scale>
          <a:sx n="83" d="100"/>
          <a:sy n="83" d="100"/>
        </p:scale>
        <p:origin x="2328" y="48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wieter, Andy (He/Him/His)" userId="1ec915ae-db2d-4066-800b-5ff02785c334" providerId="ADAL" clId="{9C67D443-294A-5EB4-85AB-E3495D373687}"/>
    <pc:docChg chg="undo custSel addSld delSld modSld">
      <pc:chgData name="Schwieter, Andy (He/Him/His)" userId="1ec915ae-db2d-4066-800b-5ff02785c334" providerId="ADAL" clId="{9C67D443-294A-5EB4-85AB-E3495D373687}" dt="2026-03-07T04:59:13.116" v="74" actId="404"/>
      <pc:docMkLst>
        <pc:docMk/>
      </pc:docMkLst>
      <pc:sldChg chg="modSp new mod">
        <pc:chgData name="Schwieter, Andy (He/Him/His)" userId="1ec915ae-db2d-4066-800b-5ff02785c334" providerId="ADAL" clId="{9C67D443-294A-5EB4-85AB-E3495D373687}" dt="2026-03-07T04:59:13.116" v="74" actId="404"/>
        <pc:sldMkLst>
          <pc:docMk/>
          <pc:sldMk cId="40868346" sldId="292"/>
        </pc:sldMkLst>
        <pc:spChg chg="mod">
          <ac:chgData name="Schwieter, Andy (He/Him/His)" userId="1ec915ae-db2d-4066-800b-5ff02785c334" providerId="ADAL" clId="{9C67D443-294A-5EB4-85AB-E3495D373687}" dt="2026-03-07T04:59:09.201" v="73" actId="27636"/>
          <ac:spMkLst>
            <pc:docMk/>
            <pc:sldMk cId="40868346" sldId="292"/>
            <ac:spMk id="2" creationId="{C1CA8695-C56C-87A0-6634-CAA5AF0EEF11}"/>
          </ac:spMkLst>
        </pc:spChg>
        <pc:spChg chg="mod">
          <ac:chgData name="Schwieter, Andy (He/Him/His)" userId="1ec915ae-db2d-4066-800b-5ff02785c334" providerId="ADAL" clId="{9C67D443-294A-5EB4-85AB-E3495D373687}" dt="2026-03-07T04:59:13.116" v="74" actId="404"/>
          <ac:spMkLst>
            <pc:docMk/>
            <pc:sldMk cId="40868346" sldId="292"/>
            <ac:spMk id="3" creationId="{2DFCFB81-D3F8-C32A-C3BD-3D8B479E2A9E}"/>
          </ac:spMkLst>
        </pc:spChg>
      </pc:sldChg>
      <pc:sldChg chg="modSp new del">
        <pc:chgData name="Schwieter, Andy (He/Him/His)" userId="1ec915ae-db2d-4066-800b-5ff02785c334" providerId="ADAL" clId="{9C67D443-294A-5EB4-85AB-E3495D373687}" dt="2026-03-07T04:57:32.775" v="2" actId="680"/>
        <pc:sldMkLst>
          <pc:docMk/>
          <pc:sldMk cId="741746020" sldId="292"/>
        </pc:sldMkLst>
        <pc:spChg chg="mod">
          <ac:chgData name="Schwieter, Andy (He/Him/His)" userId="1ec915ae-db2d-4066-800b-5ff02785c334" providerId="ADAL" clId="{9C67D443-294A-5EB4-85AB-E3495D373687}" dt="2026-03-07T04:57:30.654" v="1"/>
          <ac:spMkLst>
            <pc:docMk/>
            <pc:sldMk cId="741746020" sldId="292"/>
            <ac:spMk id="3" creationId="{A1C6F67E-2263-EA7D-87B0-1E39CED24C06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Ability to speak English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4.5</a:t>
                    </a:r>
                    <a:r>
                      <a:rPr lang="en-US" baseline="0"/>
                      <a:t> million</a:t>
                    </a:r>
                    <a:endParaRPr lang="en-US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B44D-6C42-ABB1-E5835ABEE578}"/>
                </c:ext>
              </c:extLst>
            </c:dLbl>
            <c:dLbl>
              <c:idx val="1"/>
              <c:layout>
                <c:manualLayout>
                  <c:x val="-0.46033018008165644"/>
                  <c:y val="-5.6322954063129924E-17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9.5 million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44D-6C42-ABB1-E5835ABEE578}"/>
                </c:ext>
              </c:extLst>
            </c:dLbl>
            <c:dLbl>
              <c:idx val="2"/>
              <c:layout>
                <c:manualLayout>
                  <c:x val="-0.70747594050743656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13.5</a:t>
                    </a:r>
                    <a:r>
                      <a:rPr lang="en-US" baseline="0"/>
                      <a:t> million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44D-6C42-ABB1-E5835ABEE57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Not at all</c:v>
                </c:pt>
                <c:pt idx="1">
                  <c:v>Not well</c:v>
                </c:pt>
                <c:pt idx="2">
                  <c:v>Well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4534283</c:v>
                </c:pt>
                <c:pt idx="1">
                  <c:v>9454501</c:v>
                </c:pt>
                <c:pt idx="2">
                  <c:v>13546404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4D-6C42-ABB1-E5835ABEE5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58486544"/>
        <c:axId val="1802159040"/>
      </c:barChart>
      <c:catAx>
        <c:axId val="13584865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2159040"/>
        <c:crosses val="autoZero"/>
        <c:auto val="1"/>
        <c:lblAlgn val="ctr"/>
        <c:lblOffset val="100"/>
        <c:noMultiLvlLbl val="0"/>
      </c:catAx>
      <c:valAx>
        <c:axId val="18021590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8486544"/>
        <c:crosses val="autoZero"/>
        <c:crossBetween val="between"/>
        <c:majorUnit val="50000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E0CE3-CEFF-664C-817B-5C0762B35973}" type="datetimeFigureOut">
              <a:rPr lang="en-US" smtClean="0"/>
              <a:t>3/6/26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021304-C8BB-EA44-B908-848C8427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324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1304-C8BB-EA44-B908-848C8427A5D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638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 these manifest in language discordant scenarios?</a:t>
            </a:r>
          </a:p>
          <a:p>
            <a:endParaRPr lang="en-US" dirty="0"/>
          </a:p>
          <a:p>
            <a:r>
              <a:rPr lang="en-US" dirty="0"/>
              <a:t>What about partially language concordant?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1304-C8BB-EA44-B908-848C8427A5D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05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1304-C8BB-EA44-B908-848C8427A5D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71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130425"/>
            <a:ext cx="10363200" cy="1470025"/>
          </a:xfrm>
        </p:spPr>
        <p:txBody>
          <a:bodyPr>
            <a:normAutofit/>
          </a:bodyPr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886200"/>
            <a:ext cx="8534400" cy="1534807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B5D8-907B-5946-AAB2-6BF76B9AA4A9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57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130425"/>
            <a:ext cx="10363200" cy="1470025"/>
          </a:xfrm>
        </p:spPr>
        <p:txBody>
          <a:bodyPr>
            <a:normAutofit/>
          </a:bodyPr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B5D8-907B-5946-AAB2-6BF76B9AA4A9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78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130425"/>
            <a:ext cx="10363200" cy="1470025"/>
          </a:xfrm>
        </p:spPr>
        <p:txBody>
          <a:bodyPr>
            <a:normAutofit/>
          </a:bodyPr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B5D8-907B-5946-AAB2-6BF76B9AA4A9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609600" y="3886200"/>
            <a:ext cx="8534400" cy="1534807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31157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B5D8-907B-5946-AAB2-6BF76B9AA4A9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296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1335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1335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B5D8-907B-5946-AAB2-6BF76B9AA4A9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282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133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7861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DB5D8-907B-5946-AAB2-6BF76B9AA4A9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30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8" r:id="rId2"/>
    <p:sldLayoutId id="2147483659" r:id="rId3"/>
    <p:sldLayoutId id="2147483655" r:id="rId4"/>
    <p:sldLayoutId id="2147483657" r:id="rId5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80/10410236.2017.1372047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97/AOG.0000000000005369" TargetMode="Externa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46/j.1525-1497.2002.11132.x" TargetMode="Externa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pec.2012.11.008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oi.org/10.4324/9781315658308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 Don’t Want an Interpreter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609600" y="3429000"/>
            <a:ext cx="9379352" cy="17526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effectLst/>
                <a:latin typeface="Helvetica" pitchFamily="2" charset="0"/>
              </a:rPr>
              <a:t>Andy Schwieter</a:t>
            </a:r>
          </a:p>
        </p:txBody>
      </p:sp>
    </p:spTree>
    <p:extLst>
      <p:ext uri="{BB962C8B-B14F-4D97-AF65-F5344CB8AC3E}">
        <p14:creationId xmlns:p14="http://schemas.microsoft.com/office/powerpoint/2010/main" val="371520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43046-3EE3-F422-20B0-196F977F7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3698631" cy="4814598"/>
          </a:xfrm>
        </p:spPr>
        <p:txBody>
          <a:bodyPr>
            <a:normAutofit/>
          </a:bodyPr>
          <a:lstStyle/>
          <a:p>
            <a:r>
              <a:rPr lang="en-US" dirty="0"/>
              <a:t>I don’t want an interpreter.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It’s confusing.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- Alejandra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D61D2EB-3719-3BF8-7442-895E5DC2627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631" y="-215"/>
            <a:ext cx="8493369" cy="6858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5298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31B4A-FF47-C6BF-B521-B08B6D573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C46C59-0553-D12C-EBFA-AB7D662122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What is a Blind Spot When Driving">
            <a:extLst>
              <a:ext uri="{FF2B5EF4-FFF2-40B4-BE49-F238E27FC236}">
                <a16:creationId xmlns:a16="http://schemas.microsoft.com/office/drawing/2014/main" id="{E4AC86C4-CD38-6C16-FABC-3428456DEBB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284" y="0"/>
            <a:ext cx="1029343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0079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3938B-42FD-5651-3AF6-F8946FC8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Declining Interpreters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621115D-35D8-9327-6C84-EDA71E2EAB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3938289"/>
              </p:ext>
            </p:extLst>
          </p:nvPr>
        </p:nvGraphicFramePr>
        <p:xfrm>
          <a:off x="0" y="2261936"/>
          <a:ext cx="12192000" cy="459606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5547">
                  <a:extLst>
                    <a:ext uri="{9D8B030D-6E8A-4147-A177-3AD203B41FA5}">
                      <a16:colId xmlns:a16="http://schemas.microsoft.com/office/drawing/2014/main" val="3546999168"/>
                    </a:ext>
                  </a:extLst>
                </a:gridCol>
                <a:gridCol w="5252453">
                  <a:extLst>
                    <a:ext uri="{9D8B030D-6E8A-4147-A177-3AD203B41FA5}">
                      <a16:colId xmlns:a16="http://schemas.microsoft.com/office/drawing/2014/main" val="76045591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393865113"/>
                    </a:ext>
                  </a:extLst>
                </a:gridCol>
              </a:tblGrid>
              <a:tr h="2052908">
                <a:tc>
                  <a:txBody>
                    <a:bodyPr/>
                    <a:lstStyle/>
                    <a:p>
                      <a:r>
                        <a:rPr lang="en-US" sz="3200" dirty="0"/>
                        <a:t>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“I want to speak in English”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“I want someone who came with me to by my interpreter."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626394"/>
                  </a:ext>
                </a:extLst>
              </a:tr>
              <a:tr h="2543155">
                <a:tc>
                  <a:txBody>
                    <a:bodyPr/>
                    <a:lstStyle/>
                    <a:p>
                      <a:r>
                        <a:rPr lang="en-US" sz="3200" dirty="0"/>
                        <a:t>Clinician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“I want to use [ASL, Spanish, Chinese, etc.] to communicate with the patient”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”I want someone who came with the patient to be our interpreter.”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154483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2E9FD5A-D845-DA26-5290-E350435F1758}"/>
              </a:ext>
            </a:extLst>
          </p:cNvPr>
          <p:cNvSpPr/>
          <p:nvPr/>
        </p:nvSpPr>
        <p:spPr>
          <a:xfrm>
            <a:off x="2863515" y="2261936"/>
            <a:ext cx="5293895" cy="2021306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792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3FC49-DFD6-5B77-E14D-20D673BF4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for this conversation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EB1EB-AC17-8D8F-8FAC-514931F22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Many people feel this way.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It’s about trust, control, and power.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Interpreters can do something about it.</a:t>
            </a:r>
          </a:p>
        </p:txBody>
      </p:sp>
    </p:spTree>
    <p:extLst>
      <p:ext uri="{BB962C8B-B14F-4D97-AF65-F5344CB8AC3E}">
        <p14:creationId xmlns:p14="http://schemas.microsoft.com/office/powerpoint/2010/main" val="1327496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546FF1F-4A16-73C5-56FE-79B0FF20D2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7646" y="24695"/>
            <a:ext cx="5539154" cy="71683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5A95B1-0C0E-5052-D12E-4FA8C7929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30" y="274638"/>
            <a:ext cx="10972800" cy="1143000"/>
          </a:xfrm>
        </p:spPr>
        <p:txBody>
          <a:bodyPr/>
          <a:lstStyle/>
          <a:p>
            <a:r>
              <a:rPr lang="en-US" dirty="0"/>
              <a:t>Language proficiency is a spectrum</a:t>
            </a:r>
          </a:p>
        </p:txBody>
      </p:sp>
    </p:spTree>
    <p:extLst>
      <p:ext uri="{BB962C8B-B14F-4D97-AF65-F5344CB8AC3E}">
        <p14:creationId xmlns:p14="http://schemas.microsoft.com/office/powerpoint/2010/main" val="917570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C4804-41DB-3CC7-A118-8347DFF7B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Most people with LEP</a:t>
            </a:r>
            <a:br>
              <a:rPr lang="en-US" dirty="0"/>
            </a:br>
            <a:r>
              <a:rPr lang="en-US" dirty="0"/>
              <a:t>speak some English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DAB222-0C93-6056-71BE-9B81DB5D4E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8661396"/>
              </p:ext>
            </p:extLst>
          </p:nvPr>
        </p:nvGraphicFramePr>
        <p:xfrm>
          <a:off x="609600" y="1600200"/>
          <a:ext cx="10972800" cy="4133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9485051-276D-ACF5-4109-50B118ABF4C1}"/>
              </a:ext>
            </a:extLst>
          </p:cNvPr>
          <p:cNvSpPr txBox="1"/>
          <p:nvPr/>
        </p:nvSpPr>
        <p:spPr>
          <a:xfrm>
            <a:off x="1969654" y="6119336"/>
            <a:ext cx="59741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/>
              <a:t>U.S. Census Bureau. (2024). </a:t>
            </a:r>
            <a:r>
              <a:rPr lang="en-US" i="1" dirty="0"/>
              <a:t>2023 American Community Survey </a:t>
            </a:r>
            <a:r>
              <a:rPr lang="en-US" i="1" dirty="0">
                <a:effectLst/>
              </a:rPr>
              <a:t>1-Year Estimates Public Use Microdata Sample</a:t>
            </a:r>
            <a:r>
              <a:rPr lang="en-US" dirty="0">
                <a:effectLst/>
              </a:rPr>
              <a:t>.</a:t>
            </a:r>
          </a:p>
          <a:p>
            <a:br>
              <a:rPr lang="en-US" dirty="0">
                <a:effectLst/>
              </a:rPr>
            </a:br>
            <a:endParaRPr lang="en-US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541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CBB1B-9895-58ED-ED42-5ADCAAF12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6E3BD-5A95-797C-E4D1-C446D1445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5959522" cy="413355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“I have had translators because</a:t>
            </a:r>
            <a:br>
              <a:rPr lang="en-US" dirty="0"/>
            </a:br>
            <a:r>
              <a:rPr lang="en-US" dirty="0"/>
              <a:t> I </a:t>
            </a:r>
            <a:r>
              <a:rPr lang="en-US" b="1" dirty="0"/>
              <a:t>unfortunately </a:t>
            </a:r>
            <a:r>
              <a:rPr lang="en-US" dirty="0"/>
              <a:t>cannot speak</a:t>
            </a:r>
            <a:br>
              <a:rPr lang="en-US" dirty="0"/>
            </a:br>
            <a:r>
              <a:rPr lang="en-US" dirty="0"/>
              <a:t> English.”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A9BDE3-6B44-407D-15E0-D9819DE4ADF7}"/>
              </a:ext>
            </a:extLst>
          </p:cNvPr>
          <p:cNvSpPr txBox="1"/>
          <p:nvPr/>
        </p:nvSpPr>
        <p:spPr>
          <a:xfrm>
            <a:off x="1704322" y="5257800"/>
            <a:ext cx="71253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ffectLst/>
              </a:rPr>
              <a:t>Schwei, R. J., Schroeder, M., </a:t>
            </a:r>
            <a:r>
              <a:rPr lang="en-US" dirty="0" err="1">
                <a:effectLst/>
              </a:rPr>
              <a:t>Ejebe</a:t>
            </a:r>
            <a:r>
              <a:rPr lang="en-US" dirty="0">
                <a:effectLst/>
              </a:rPr>
              <a:t>, I., Lor, M., Park, L., Xiong, P., &amp; Jacobs, E. A. (2018). Limited English Proficient Patients’ Perceptions of when Interpreters are Needed and how the Decision to Utilize Interpreters is Made. </a:t>
            </a:r>
            <a:r>
              <a:rPr lang="en-US" i="1" dirty="0">
                <a:effectLst/>
              </a:rPr>
              <a:t>Health Communication</a:t>
            </a:r>
            <a:r>
              <a:rPr lang="en-US" dirty="0">
                <a:effectLst/>
              </a:rPr>
              <a:t>, </a:t>
            </a:r>
            <a:r>
              <a:rPr lang="en-US" i="1" dirty="0">
                <a:effectLst/>
              </a:rPr>
              <a:t>33</a:t>
            </a:r>
            <a:r>
              <a:rPr lang="en-US" dirty="0">
                <a:effectLst/>
              </a:rPr>
              <a:t>(12). </a:t>
            </a:r>
            <a:r>
              <a:rPr lang="en-US" dirty="0">
                <a:effectLst/>
                <a:hlinkClick r:id="rId3"/>
              </a:rPr>
              <a:t>https://doi.org/10.1080/10410236.2017.1372047</a:t>
            </a:r>
            <a:endParaRPr lang="en-US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238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24B77-CE53-8901-8F31-76C25E361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275" y="518856"/>
            <a:ext cx="8253630" cy="413355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“One knows more or less English and sees</a:t>
            </a:r>
            <a:br>
              <a:rPr lang="en-US" dirty="0"/>
            </a:br>
            <a:r>
              <a:rPr lang="en-US" dirty="0"/>
              <a:t> that when there is an interpreter it is as if</a:t>
            </a:r>
            <a:br>
              <a:rPr lang="en-US" dirty="0"/>
            </a:br>
            <a:r>
              <a:rPr lang="en-US" dirty="0"/>
              <a:t> the </a:t>
            </a:r>
            <a:r>
              <a:rPr lang="en-US" b="1" dirty="0"/>
              <a:t>information does not arrive correctly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 And in one of the most important moments,</a:t>
            </a:r>
            <a:br>
              <a:rPr lang="en-US" dirty="0"/>
            </a:br>
            <a:r>
              <a:rPr lang="en-US" dirty="0"/>
              <a:t> which for me was prenatal care, one needs </a:t>
            </a:r>
            <a:br>
              <a:rPr lang="en-US" dirty="0"/>
            </a:br>
            <a:r>
              <a:rPr lang="en-US" dirty="0"/>
              <a:t> to be clear, with many doubts that one has.”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1CD69F-F247-2553-999E-EA1D6D9F1629}"/>
              </a:ext>
            </a:extLst>
          </p:cNvPr>
          <p:cNvSpPr txBox="1"/>
          <p:nvPr/>
        </p:nvSpPr>
        <p:spPr>
          <a:xfrm>
            <a:off x="2085975" y="4900656"/>
            <a:ext cx="70294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ffectLst/>
              </a:rPr>
              <a:t>Salinas, K. E., Bazan, M., Rivera, L., Butler, H., Larson, E., Guise, J.-M., Hacker, M. R., Kaimal, A. J., &amp; Molina, R. L. (2023). Experiences and Communication Preferences in Pregnancy Care Among Patients With a Spanish Language Preference: A Qualitative Study. </a:t>
            </a:r>
            <a:r>
              <a:rPr lang="en-US" i="1" dirty="0">
                <a:effectLst/>
              </a:rPr>
              <a:t>Obstetrics and Gynecology</a:t>
            </a:r>
            <a:r>
              <a:rPr lang="en-US" dirty="0">
                <a:effectLst/>
              </a:rPr>
              <a:t>, </a:t>
            </a:r>
            <a:r>
              <a:rPr lang="en-US" i="1" dirty="0">
                <a:effectLst/>
              </a:rPr>
              <a:t>142</a:t>
            </a:r>
            <a:r>
              <a:rPr lang="en-US" dirty="0">
                <a:effectLst/>
              </a:rPr>
              <a:t>(5), 1227–1236. </a:t>
            </a:r>
            <a:r>
              <a:rPr lang="en-US" dirty="0">
                <a:effectLst/>
                <a:hlinkClick r:id="rId2"/>
              </a:rPr>
              <a:t>https://doi.org/10.1097/AOG.0000000000005369</a:t>
            </a:r>
            <a:endParaRPr lang="en-US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77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420A81-1CA8-B2B9-D1CB-681B2C9BF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418653" cy="4980268"/>
          </a:xfrm>
        </p:spPr>
        <p:txBody>
          <a:bodyPr>
            <a:normAutofit/>
          </a:bodyPr>
          <a:lstStyle/>
          <a:p>
            <a:r>
              <a:rPr lang="en-US" dirty="0"/>
              <a:t>Have you ever worked with an interpreter for a language you spoke </a:t>
            </a:r>
            <a:r>
              <a:rPr lang="en-US" b="1" i="1" dirty="0"/>
              <a:t>a little</a:t>
            </a:r>
            <a:r>
              <a:rPr lang="en-US" dirty="0"/>
              <a:t> or </a:t>
            </a:r>
            <a:r>
              <a:rPr lang="en-US" b="1" i="1" dirty="0"/>
              <a:t>well</a:t>
            </a:r>
            <a:r>
              <a:rPr lang="en-US" dirty="0"/>
              <a:t> but not </a:t>
            </a:r>
            <a:r>
              <a:rPr lang="en-US" b="1" i="1" dirty="0"/>
              <a:t>very</a:t>
            </a:r>
            <a:r>
              <a:rPr lang="en-US" b="1" dirty="0"/>
              <a:t> </a:t>
            </a:r>
            <a:r>
              <a:rPr lang="en-US" b="1" i="1" dirty="0"/>
              <a:t>well</a:t>
            </a:r>
            <a:r>
              <a:rPr lang="en-US" sz="1400" b="1" i="1" dirty="0"/>
              <a:t> </a:t>
            </a:r>
            <a:r>
              <a:rPr lang="en-US" dirty="0"/>
              <a:t>?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What was it like?</a:t>
            </a:r>
          </a:p>
        </p:txBody>
      </p:sp>
    </p:spTree>
    <p:extLst>
      <p:ext uri="{BB962C8B-B14F-4D97-AF65-F5344CB8AC3E}">
        <p14:creationId xmlns:p14="http://schemas.microsoft.com/office/powerpoint/2010/main" val="2995079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5A99306-E7DE-9721-62B4-DF9520C50A37}"/>
              </a:ext>
            </a:extLst>
          </p:cNvPr>
          <p:cNvSpPr/>
          <p:nvPr/>
        </p:nvSpPr>
        <p:spPr>
          <a:xfrm>
            <a:off x="-356260" y="-391886"/>
            <a:ext cx="13264738" cy="7612083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7CE9D7-B53F-F72A-44DE-39045706F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582A17F-F407-F800-4098-CD486C5615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13355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58854C1-4DEA-BDD7-BA54-F6A4DF57A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3704497" y="1"/>
            <a:ext cx="4630606" cy="6860157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260057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734B-D2DA-D64C-585E-7618B9817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D23FA6-4008-7477-6006-32DA9AD5ED97}"/>
              </a:ext>
            </a:extLst>
          </p:cNvPr>
          <p:cNvSpPr/>
          <p:nvPr/>
        </p:nvSpPr>
        <p:spPr>
          <a:xfrm>
            <a:off x="-356260" y="-391886"/>
            <a:ext cx="13264738" cy="7612083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364FFAE-072B-25D8-201E-6CF060FB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0AD6ACE-7A9D-D4A6-C50E-DB791EC00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13355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C684B93-2487-F3E5-0DC0-4F84797D9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497" y="0"/>
            <a:ext cx="4630606" cy="6860159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949035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58EA1-5D12-F377-4947-CEBF3EC01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you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85B51-E437-E0D2-8A9C-404889797A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Clarify with the interpreter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0F38B-9FF4-AC2A-D920-14318F9AD6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Live with the confusion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E1ADC78D-FD1D-471A-D6D7-9D7EBCEE7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54756"/>
            <a:ext cx="4773145" cy="302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person with long hair making a face&#10;&#10;AI-generated content may be incorrect.">
            <a:extLst>
              <a:ext uri="{FF2B5EF4-FFF2-40B4-BE49-F238E27FC236}">
                <a16:creationId xmlns:a16="http://schemas.microsoft.com/office/drawing/2014/main" id="{CC9847F8-343B-84C5-5AE3-EAC3F0F68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54756"/>
            <a:ext cx="4781120" cy="318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326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4ECDE-44AE-AD46-6C30-0A83E90B4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4930D-7ADD-ECBB-8EC3-F1924F2C6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1412E6C-9358-1B19-3882-BCE091C30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1882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79F3F-B9F2-522A-F4C4-9B1B7F563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Trust matters in healthcare.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45A63-E2BA-21A0-C1E0-FEF244DA6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“To pursue the patient's good, the patient must trust the</a:t>
            </a:r>
            <a:br>
              <a:rPr lang="en-US" dirty="0"/>
            </a:br>
            <a:r>
              <a:rPr lang="en-US" dirty="0"/>
              <a:t> physician (or clinician, or organization) with private</a:t>
            </a:r>
            <a:br>
              <a:rPr lang="en-US" dirty="0"/>
            </a:br>
            <a:r>
              <a:rPr lang="en-US" dirty="0"/>
              <a:t> information and with his/her body.</a:t>
            </a:r>
          </a:p>
          <a:p>
            <a:pPr marL="0" indent="0">
              <a:buNone/>
            </a:pPr>
            <a:r>
              <a:rPr lang="en-US" dirty="0"/>
              <a:t> Trust in the healer is essential to healing itself.</a:t>
            </a:r>
          </a:p>
          <a:p>
            <a:pPr marL="0" indent="0">
              <a:buNone/>
            </a:pPr>
            <a:r>
              <a:rPr lang="en-US" dirty="0"/>
              <a:t> Trust, at least to some minimal extent, is undoubtedly a </a:t>
            </a:r>
            <a:br>
              <a:rPr lang="en-US" dirty="0"/>
            </a:br>
            <a:r>
              <a:rPr lang="en-US" dirty="0"/>
              <a:t> prerequisite to seeking care at all.”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9DE98D-8B70-3BF9-44CE-B83C118E0D83}"/>
              </a:ext>
            </a:extLst>
          </p:cNvPr>
          <p:cNvSpPr txBox="1"/>
          <p:nvPr/>
        </p:nvSpPr>
        <p:spPr>
          <a:xfrm>
            <a:off x="2441275" y="5594230"/>
            <a:ext cx="65129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ffectLst/>
              </a:rPr>
              <a:t>Goold, S. D. (2002). Trust, Distrust and Trustworthiness. </a:t>
            </a:r>
            <a:r>
              <a:rPr lang="en-US" i="1" dirty="0">
                <a:effectLst/>
              </a:rPr>
              <a:t>Journal of General Internal Medicine</a:t>
            </a:r>
            <a:r>
              <a:rPr lang="en-US" dirty="0">
                <a:effectLst/>
              </a:rPr>
              <a:t>, </a:t>
            </a:r>
            <a:r>
              <a:rPr lang="en-US" i="1" dirty="0">
                <a:effectLst/>
              </a:rPr>
              <a:t>17</a:t>
            </a:r>
            <a:r>
              <a:rPr lang="en-US" dirty="0">
                <a:effectLst/>
              </a:rPr>
              <a:t>(1), 79–81. </a:t>
            </a:r>
            <a:r>
              <a:rPr lang="en-US" dirty="0">
                <a:effectLst/>
                <a:hlinkClick r:id="rId2"/>
              </a:rPr>
              <a:t>https://doi.org/10.1046/j.1525-1497.2002.11132.x</a:t>
            </a:r>
            <a:endParaRPr lang="en-US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074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A4439-563E-6511-CE11-865700391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Difficulties come from issues around</a:t>
            </a:r>
            <a:br>
              <a:rPr lang="en-US" dirty="0"/>
            </a:br>
            <a:r>
              <a:rPr lang="en-US" dirty="0"/>
              <a:t>trust, control, and power.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2A3FA-B244-1C36-A6A5-D51034244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5068"/>
            <a:ext cx="11582400" cy="431429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1368"/>
              </a:spcBef>
            </a:pPr>
            <a:r>
              <a:rPr lang="en-US" dirty="0"/>
              <a:t>Trust</a:t>
            </a:r>
          </a:p>
          <a:p>
            <a:pPr lvl="1">
              <a:lnSpc>
                <a:spcPct val="120000"/>
              </a:lnSpc>
              <a:spcBef>
                <a:spcPts val="1368"/>
              </a:spcBef>
            </a:pPr>
            <a:r>
              <a:rPr lang="en-US" dirty="0"/>
              <a:t>Among the three (or more) protagonists</a:t>
            </a:r>
          </a:p>
          <a:p>
            <a:pPr>
              <a:lnSpc>
                <a:spcPct val="120000"/>
              </a:lnSpc>
              <a:spcBef>
                <a:spcPts val="1368"/>
              </a:spcBef>
            </a:pPr>
            <a:r>
              <a:rPr lang="en-US" dirty="0"/>
              <a:t>Control</a:t>
            </a:r>
          </a:p>
          <a:p>
            <a:pPr lvl="1">
              <a:lnSpc>
                <a:spcPct val="120000"/>
              </a:lnSpc>
              <a:spcBef>
                <a:spcPts val="1368"/>
              </a:spcBef>
            </a:pPr>
            <a:r>
              <a:rPr lang="en-US" dirty="0"/>
              <a:t>The ability to </a:t>
            </a:r>
            <a:r>
              <a:rPr lang="en-US" b="1" dirty="0"/>
              <a:t>orient the course of action</a:t>
            </a:r>
            <a:r>
              <a:rPr lang="en-US" dirty="0"/>
              <a:t> during consultations and</a:t>
            </a:r>
            <a:br>
              <a:rPr lang="en-US" dirty="0"/>
            </a:br>
            <a:r>
              <a:rPr lang="en-US" b="1" dirty="0"/>
              <a:t>verify the accuracy and validity </a:t>
            </a:r>
            <a:r>
              <a:rPr lang="en-US" dirty="0"/>
              <a:t>of what is said.</a:t>
            </a:r>
          </a:p>
          <a:p>
            <a:pPr>
              <a:lnSpc>
                <a:spcPct val="120000"/>
              </a:lnSpc>
              <a:spcBef>
                <a:spcPts val="1368"/>
              </a:spcBef>
            </a:pPr>
            <a:r>
              <a:rPr lang="en-US" dirty="0"/>
              <a:t>Power</a:t>
            </a:r>
          </a:p>
          <a:p>
            <a:pPr lvl="1">
              <a:lnSpc>
                <a:spcPct val="120000"/>
              </a:lnSpc>
              <a:spcBef>
                <a:spcPts val="1368"/>
              </a:spcBef>
            </a:pPr>
            <a:r>
              <a:rPr lang="en-US" dirty="0"/>
              <a:t>Manifestations of </a:t>
            </a:r>
            <a:r>
              <a:rPr lang="en-US" b="1" dirty="0"/>
              <a:t>broader power struggles</a:t>
            </a:r>
            <a:r>
              <a:rPr lang="en-US" dirty="0"/>
              <a:t> in institutions and society, such as institutional constraints (</a:t>
            </a:r>
            <a:r>
              <a:rPr lang="en-US" b="1" dirty="0"/>
              <a:t>time</a:t>
            </a:r>
            <a:r>
              <a:rPr lang="en-US" dirty="0"/>
              <a:t>, </a:t>
            </a:r>
            <a:r>
              <a:rPr lang="en-US" b="1" dirty="0"/>
              <a:t>cost</a:t>
            </a:r>
            <a:r>
              <a:rPr lang="en-US" dirty="0"/>
              <a:t>) and </a:t>
            </a:r>
            <a:r>
              <a:rPr lang="en-US" b="1" dirty="0"/>
              <a:t>lack of support </a:t>
            </a:r>
            <a:r>
              <a:rPr lang="en-US" dirty="0"/>
              <a:t>for interpreters.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BEB204-8FCD-13BF-B7EC-367470D01419}"/>
              </a:ext>
            </a:extLst>
          </p:cNvPr>
          <p:cNvSpPr txBox="1"/>
          <p:nvPr/>
        </p:nvSpPr>
        <p:spPr>
          <a:xfrm>
            <a:off x="1856095" y="6029364"/>
            <a:ext cx="79202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effectLst/>
              </a:rPr>
              <a:t>Brisset, C., Leanza, Y., &amp; Laforest, K. (2013). Working with interpreters in health care: A systematic review and meta-ethnography of qualitative studies. </a:t>
            </a:r>
            <a:r>
              <a:rPr lang="en-US" sz="1600" i="1" dirty="0">
                <a:effectLst/>
              </a:rPr>
              <a:t>Patient Education and Counseling</a:t>
            </a:r>
            <a:r>
              <a:rPr lang="en-US" sz="1600" dirty="0">
                <a:effectLst/>
              </a:rPr>
              <a:t>, </a:t>
            </a:r>
            <a:r>
              <a:rPr lang="en-US" sz="1600" i="1" dirty="0">
                <a:effectLst/>
              </a:rPr>
              <a:t>91</a:t>
            </a:r>
            <a:r>
              <a:rPr lang="en-US" sz="1600" dirty="0">
                <a:effectLst/>
              </a:rPr>
              <a:t>(2), 131–140. </a:t>
            </a:r>
            <a:r>
              <a:rPr lang="en-US" sz="1600" dirty="0">
                <a:effectLst/>
                <a:hlinkClick r:id="rId3"/>
              </a:rPr>
              <a:t>https://doi.org/10.1016/j.pec.2012.11.008</a:t>
            </a:r>
            <a:endParaRPr lang="en-US" sz="1600" dirty="0">
              <a:effectLst/>
            </a:endParaRP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52758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61C79-BAA8-7316-902B-62053B375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FBB706-6FEF-C92D-14EC-53D007EA5C9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5497" t="1669" r="6892" b="878"/>
          <a:stretch/>
        </p:blipFill>
        <p:spPr>
          <a:xfrm>
            <a:off x="1250829" y="1656296"/>
            <a:ext cx="4063043" cy="4028536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FC82AC2-CBB8-8610-5DF3-C36AA30BEC2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719777"/>
            <a:ext cx="5410200" cy="189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544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7B07B-770B-842B-5BD6-F295202BD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values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D22509-2DC8-71B9-06AC-BCBE28224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6101751" cy="4133557"/>
          </a:xfrm>
        </p:spPr>
        <p:txBody>
          <a:bodyPr/>
          <a:lstStyle/>
          <a:p>
            <a:r>
              <a:rPr lang="en-US" dirty="0"/>
              <a:t>Beneficence</a:t>
            </a:r>
          </a:p>
          <a:p>
            <a:r>
              <a:rPr lang="en-US" dirty="0"/>
              <a:t>Fidelity</a:t>
            </a:r>
          </a:p>
          <a:p>
            <a:r>
              <a:rPr lang="en-US" dirty="0"/>
              <a:t>Respect for the importance of culture and cultural differences</a:t>
            </a:r>
          </a:p>
        </p:txBody>
      </p:sp>
      <p:pic>
        <p:nvPicPr>
          <p:cNvPr id="8194" name="Picture 2" descr="NCIHC Logo">
            <a:extLst>
              <a:ext uri="{FF2B5EF4-FFF2-40B4-BE49-F238E27FC236}">
                <a16:creationId xmlns:a16="http://schemas.microsoft.com/office/drawing/2014/main" id="{F255F515-AB78-C6E2-6249-A3D4F6623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709" y="5510810"/>
            <a:ext cx="3347050" cy="1115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5492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880F56E0-AEA2-0CD1-1AFB-29F5A67B76D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915" y="381000"/>
            <a:ext cx="7153468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1581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27E0D09-22C6-44E7-32E6-991AD0F981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9161" t="74971" r="1319" b="11273"/>
          <a:stretch/>
        </p:blipFill>
        <p:spPr>
          <a:xfrm>
            <a:off x="136478" y="3302190"/>
            <a:ext cx="3657600" cy="568656"/>
          </a:xfrm>
          <a:prstGeom prst="rect">
            <a:avLst/>
          </a:prstGeom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035AE538-AC89-73DF-4E1E-8C5D01DB03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34" t="4704" r="5600" b="44013"/>
          <a:stretch/>
        </p:blipFill>
        <p:spPr>
          <a:xfrm>
            <a:off x="4526507" y="2369024"/>
            <a:ext cx="2902424" cy="2119952"/>
          </a:xfrm>
          <a:prstGeom prst="rect">
            <a:avLst/>
          </a:prstGeom>
        </p:spPr>
      </p:pic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3B11AF5D-1398-AE84-0A76-CF26D595E2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099" r="20986" b="11493"/>
          <a:stretch/>
        </p:blipFill>
        <p:spPr>
          <a:xfrm>
            <a:off x="8002137" y="2041478"/>
            <a:ext cx="4189863" cy="3658737"/>
          </a:xfrm>
          <a:prstGeom prst="rect">
            <a:avLst/>
          </a:prstGeom>
        </p:spPr>
      </p:pic>
      <p:sp>
        <p:nvSpPr>
          <p:cNvPr id="9" name="Chevron 8">
            <a:extLst>
              <a:ext uri="{FF2B5EF4-FFF2-40B4-BE49-F238E27FC236}">
                <a16:creationId xmlns:a16="http://schemas.microsoft.com/office/drawing/2014/main" id="{A12BA57E-FB35-B63D-65A2-BAE249168393}"/>
              </a:ext>
            </a:extLst>
          </p:cNvPr>
          <p:cNvSpPr/>
          <p:nvPr/>
        </p:nvSpPr>
        <p:spPr>
          <a:xfrm>
            <a:off x="3555242" y="1307341"/>
            <a:ext cx="932597" cy="4558353"/>
          </a:xfrm>
          <a:prstGeom prst="chevron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hevron 9">
            <a:extLst>
              <a:ext uri="{FF2B5EF4-FFF2-40B4-BE49-F238E27FC236}">
                <a16:creationId xmlns:a16="http://schemas.microsoft.com/office/drawing/2014/main" id="{94FCF3A4-5190-BC66-E4D4-E47A59F73F51}"/>
              </a:ext>
            </a:extLst>
          </p:cNvPr>
          <p:cNvSpPr/>
          <p:nvPr/>
        </p:nvSpPr>
        <p:spPr>
          <a:xfrm>
            <a:off x="7237862" y="1307341"/>
            <a:ext cx="932597" cy="4558353"/>
          </a:xfrm>
          <a:prstGeom prst="chevron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CE1723-7A63-AD8A-F878-34727021B963}"/>
              </a:ext>
            </a:extLst>
          </p:cNvPr>
          <p:cNvSpPr txBox="1"/>
          <p:nvPr/>
        </p:nvSpPr>
        <p:spPr>
          <a:xfrm>
            <a:off x="1965278" y="5953888"/>
            <a:ext cx="62097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ffectLst/>
              </a:rPr>
              <a:t>Hsieh, E. (2016). </a:t>
            </a:r>
            <a:r>
              <a:rPr lang="en-US" i="1" dirty="0">
                <a:effectLst/>
              </a:rPr>
              <a:t>Bilingual Health Communication: Working with Interpreters in Cross-Cultural Care</a:t>
            </a:r>
            <a:r>
              <a:rPr lang="en-US" dirty="0">
                <a:effectLst/>
              </a:rPr>
              <a:t>. Taylor &amp; Francis Group. </a:t>
            </a:r>
            <a:r>
              <a:rPr lang="en-US" dirty="0">
                <a:effectLst/>
                <a:hlinkClick r:id="rId4"/>
              </a:rPr>
              <a:t>https://doi.org/10.4324/9781315658308</a:t>
            </a:r>
            <a:endParaRPr lang="en-US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729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D5398CE-5BA6-B5C6-C4C4-F10969294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97BAF1D-3978-53B1-1128-CE11F3F89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32297"/>
            <a:ext cx="5410200" cy="4133557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Partially Language Concordant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7DA4BC64-0429-439C-CE07-EC2200EB49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07" t="1898" r="22646" b="16555"/>
          <a:stretch/>
        </p:blipFill>
        <p:spPr>
          <a:xfrm>
            <a:off x="7153133" y="2502088"/>
            <a:ext cx="3448334" cy="3370997"/>
          </a:xfrm>
          <a:prstGeom prst="rect">
            <a:avLst/>
          </a:prstGeom>
        </p:spPr>
      </p:pic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60B6552D-6D96-1666-308C-BCFF5983E7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45" r="20916" b="11440"/>
          <a:stretch/>
        </p:blipFill>
        <p:spPr>
          <a:xfrm>
            <a:off x="1394915" y="2500623"/>
            <a:ext cx="3839570" cy="3372462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0004076-CE83-6F92-F339-5ECF4F3355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32297"/>
            <a:ext cx="5410200" cy="4133557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Language Discordant</a:t>
            </a:r>
          </a:p>
        </p:txBody>
      </p:sp>
    </p:spTree>
    <p:extLst>
      <p:ext uri="{BB962C8B-B14F-4D97-AF65-F5344CB8AC3E}">
        <p14:creationId xmlns:p14="http://schemas.microsoft.com/office/powerpoint/2010/main" val="24301667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433F8-C6D0-6319-56EA-056911DE1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242DE-5086-D0C1-1C64-0B1B07EE4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9853684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What could interpreters do to help in partially language </a:t>
            </a:r>
            <a:r>
              <a:rPr lang="en-US"/>
              <a:t>concordant sessions?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FF119A-3A64-4D42-5A83-EE1953B19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Human dictionary</a:t>
            </a:r>
          </a:p>
          <a:p>
            <a:r>
              <a:rPr lang="en-US" dirty="0"/>
              <a:t>Listen for possible misunderstandings, then intervene</a:t>
            </a:r>
          </a:p>
          <a:p>
            <a:r>
              <a:rPr lang="en-US" dirty="0"/>
              <a:t>When asked, do the bilingual parrot interpreting thing</a:t>
            </a:r>
          </a:p>
          <a:p>
            <a:r>
              <a:rPr lang="en-US" dirty="0"/>
              <a:t>Focus on identifying and addressing cultural issues or  misunderstandings</a:t>
            </a:r>
          </a:p>
          <a:p>
            <a:r>
              <a:rPr lang="en-US" dirty="0"/>
              <a:t>Suggest teach-back when it might help</a:t>
            </a:r>
          </a:p>
        </p:txBody>
      </p:sp>
    </p:spTree>
    <p:extLst>
      <p:ext uri="{BB962C8B-B14F-4D97-AF65-F5344CB8AC3E}">
        <p14:creationId xmlns:p14="http://schemas.microsoft.com/office/powerpoint/2010/main" val="1912789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E58D7-84F2-5CA6-8916-37520B61F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50" y="685800"/>
            <a:ext cx="7146877" cy="41335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Many people who speak some English do not want an interpreter because they do not want to share</a:t>
            </a:r>
            <a:br>
              <a:rPr lang="en-US" dirty="0"/>
            </a:br>
            <a:r>
              <a:rPr lang="en-US" dirty="0"/>
              <a:t>trust, control, and power</a:t>
            </a:r>
            <a:br>
              <a:rPr lang="en-US" dirty="0"/>
            </a:br>
            <a:r>
              <a:rPr lang="en-US" dirty="0"/>
              <a:t>with a bilingual parrot.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Interpreters should help</a:t>
            </a:r>
            <a:br>
              <a:rPr lang="en-US" dirty="0"/>
            </a:br>
            <a:r>
              <a:rPr lang="en-US" dirty="0"/>
              <a:t>in a different way instead.</a:t>
            </a:r>
          </a:p>
        </p:txBody>
      </p:sp>
    </p:spTree>
    <p:extLst>
      <p:ext uri="{BB962C8B-B14F-4D97-AF65-F5344CB8AC3E}">
        <p14:creationId xmlns:p14="http://schemas.microsoft.com/office/powerpoint/2010/main" val="34496527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A8695-C56C-87A0-6634-CAA5AF0EE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Session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CFB81-D3F8-C32A-C3BD-3D8B479E2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IMIA/NBCMI: CHIA26-22</a:t>
            </a:r>
          </a:p>
          <a:p>
            <a:pPr marL="0" indent="0">
              <a:buNone/>
            </a:pPr>
            <a:r>
              <a:rPr lang="en-US" sz="5400" dirty="0"/>
              <a:t>CCHI: C2609AY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8683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2">
      <a:dk1>
        <a:srgbClr val="565A5C"/>
      </a:dk1>
      <a:lt1>
        <a:sysClr val="window" lastClr="FFFFFF"/>
      </a:lt1>
      <a:dk2>
        <a:srgbClr val="808080"/>
      </a:dk2>
      <a:lt2>
        <a:srgbClr val="B3B3B3"/>
      </a:lt2>
      <a:accent1>
        <a:srgbClr val="009CB1"/>
      </a:accent1>
      <a:accent2>
        <a:srgbClr val="77BC1F"/>
      </a:accent2>
      <a:accent3>
        <a:srgbClr val="A1CD3A"/>
      </a:accent3>
      <a:accent4>
        <a:srgbClr val="9AD1DC"/>
      </a:accent4>
      <a:accent5>
        <a:srgbClr val="6EC4E9"/>
      </a:accent5>
      <a:accent6>
        <a:srgbClr val="E7417A"/>
      </a:accent6>
      <a:hlink>
        <a:srgbClr val="0563C1"/>
      </a:hlink>
      <a:folHlink>
        <a:srgbClr val="954F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9552</TotalTime>
  <Words>826</Words>
  <Application>Microsoft Macintosh PowerPoint</Application>
  <PresentationFormat>Widescreen</PresentationFormat>
  <Paragraphs>69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Arial</vt:lpstr>
      <vt:lpstr>Helvetica</vt:lpstr>
      <vt:lpstr>Custom Design</vt:lpstr>
      <vt:lpstr>I Don’t Want an Interpreter</vt:lpstr>
      <vt:lpstr>I don’t want an interpreter.  It’s confusing.   - Alejandra</vt:lpstr>
      <vt:lpstr>PowerPoint Presentation</vt:lpstr>
      <vt:lpstr>Declining Interpreters</vt:lpstr>
      <vt:lpstr>Map for this conversation</vt:lpstr>
      <vt:lpstr>Language proficiency is a spectrum</vt:lpstr>
      <vt:lpstr>Most people with LEP speak some English</vt:lpstr>
      <vt:lpstr>PowerPoint Presentation</vt:lpstr>
      <vt:lpstr>PowerPoint Presentation</vt:lpstr>
      <vt:lpstr>Have you ever worked with an interpreter for a language you spoke a little or well but not very well ?  What was it like?</vt:lpstr>
      <vt:lpstr>PowerPoint Presentation</vt:lpstr>
      <vt:lpstr>PowerPoint Presentation</vt:lpstr>
      <vt:lpstr>What do you do?</vt:lpstr>
      <vt:lpstr>PowerPoint Presentation</vt:lpstr>
      <vt:lpstr>Trust matters in healthcare.</vt:lpstr>
      <vt:lpstr>Difficulties come from issues around trust, control, and power.</vt:lpstr>
      <vt:lpstr>Goals</vt:lpstr>
      <vt:lpstr>Ethical values</vt:lpstr>
      <vt:lpstr>PowerPoint Presentation</vt:lpstr>
      <vt:lpstr>PowerPoint Presentation</vt:lpstr>
      <vt:lpstr>PowerPoint Presentation</vt:lpstr>
      <vt:lpstr>What could interpreters do to help in partially language concordant sessions?</vt:lpstr>
      <vt:lpstr>PowerPoint Presentation</vt:lpstr>
      <vt:lpstr>Session Codes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Diederichs, Anna</dc:creator>
  <cp:lastModifiedBy>Schwieter, Andy (He/Him/His)</cp:lastModifiedBy>
  <cp:revision>16</cp:revision>
  <dcterms:created xsi:type="dcterms:W3CDTF">2016-06-30T12:45:50Z</dcterms:created>
  <dcterms:modified xsi:type="dcterms:W3CDTF">2026-03-07T04:59:20Z</dcterms:modified>
</cp:coreProperties>
</file>